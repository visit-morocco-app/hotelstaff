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1-2 min
Question d'ouverture : 'Avant de commencer, comment vos équipes se coordonnent-elles aujourd'hui ? Comment votre gouvernante sait-elle en temps réel qu'une chambre est prête ?' — Laissez le directeur répondre.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2-3 min
Faites valider : 'Est-ce que vous reconnaissez cette situation ?' sur chaque point.
Argument ROI : 'Si chaque chambre prend 20 minutes de plus à cause d'une mauvaise communication, sur 30 chambres c'est 10h perdues par jour. Combien ça représente en heures supplémentaires 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2 min
Montrez l'app sur la tablette !
'Voici ce que voit votre gouvernante chaque matin. D'un coup d'œil : combien de chambres sont prêtes, combien en cours, s'il y a des incidents. Elle assigne une chambre en 3 secondes.'
Question : 'Combien de temps votre gouvernante passe-t-elle au téléphone le matin pour coordonner son équipe 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1-2 min
'Voici ce que voit Fatima. Dès que la gouvernante lui assigne une chambre, elle la voit. Elle appuie Je commence, nettoie, et si elle détecte un problème — clim cassée — elle le signale en 3 secondes. Maintenance alertée immédiatement.'
Point fort : 'Le bouton Prêt est bloqué si incident non résolu. Impossible qu'une chambre problématique arrive en réception.'
Question : 'Comment Fatima vous informe-t-elle actuellement d'une panne dans une chambre 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1-2 min
'Karim ouvre l'app et voit immédiatement 7 chambres disponibles. Un client arrive pour un early check-in — il sait en 3 secondes quelles chambres sont prêtes.'
'Quand il fait le check-out de la 305, la gouvernante voit instantanément la chambre passer en Sale. Le cycle recommence automatiquement.'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2 min
'Vous M. le Directeur, à 9h vous voyez : 7 chambres disponibles, 37% d'occupation, 0 incident ouvert.'
Argument KPIs : 'Vous savez enfin si Fatima prend 25 ou 45 minutes par chambre. Si 45 min, c'est peut-être qu'elle a eu 3 incidents techniques ce mois. Vous avez les données pour décider.'
Question : 'Comment évaluez-vous actuellement la performance de votre équipe housekeeping 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1-2 min
Insistez sur le 0 chambre problématique : 'Techniquement impossible — le bouton est bloqué.'
Sur le 15 minutes : 'Je configure votre hôtel avec vous en 15 minutes. Vos équipes utilisent l'app le jour même.'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2 min
Objection 'mes équipes ne sont pas à l'aise avec la technologie' → 'L'interface est aussi simple que WhatsApp. On a formé des gouvernantes de 55 ans en 10 minutes.'
Objection 'on n'a pas le temps de former' → 'La formation c'est moi qui la fais, pendant la configuration.'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2-3 min
Adaptez au profil AVANT d'afficher !
Hôtel 4★ : 'Business à 1 499 MAD — 50 MAD par jour, moins que le café de votre comité direction. Une chambre disponible plus tôt, c'est une nuit de CA en plus.'
Hôtel 5★ : Allez direct sur Premium 2 999 MAD.
Objection prix : 'Combien vous coûte une mauvaise expérience client causée par une chambre pas prête ?'
Proposez toujours le 1er mois offert pour lever les freins.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2-3 min
Script de closing : 'Je vous propose 1 mois gratuit. Pas de risque. Si après 30 jours vous ne voyez pas de difference, on s'arrête. Mais je suis confiant.'
Questions de closing :
- 'Qu'est-ce qui vous retient de demarrer aujourd'hui ?'
- 'Y a-t-il quelqu'un d'autre a impliquer dans cette decision ?'
- 'Quelle date vous conviendrait pour la configuration ?'
Si hesitation : 'Laissez-moi vous envoyer une demo video de 5 min ce soir, on se rappelle la semaine prochaine 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B3A2D">
              <a:alpha val="28000"/>
            </a:srgbClr>
          </a:solidFill>
          <a:ln w="12700">
            <a:solidFill>
              <a:srgbClr val="1B3A2D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3200400" cy="3200400"/>
          </a:xfrm>
          <a:prstGeom prst="ellipse">
            <a:avLst/>
          </a:prstGeom>
          <a:solidFill>
            <a:srgbClr val="C4853A">
              <a:alpha val="18000"/>
            </a:srgbClr>
          </a:solidFill>
          <a:ln w="12700">
            <a:solidFill>
              <a:srgbClr val="C4853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1005840" cy="1005840"/>
          </a:xfrm>
          <a:prstGeom prst="roundRect">
            <a:avLst>
              <a:gd name="adj" fmla="val 16364"/>
            </a:avLst>
          </a:prstGeom>
          <a:solidFill>
            <a:srgbClr val="C4853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🏨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HotelStaff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02920" y="2633472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48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 digitale de gestion opérationnelle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C48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les hôtels marocains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3547872"/>
            <a:ext cx="3657600" cy="475488"/>
          </a:xfrm>
          <a:prstGeom prst="roundRect">
            <a:avLst>
              <a:gd name="adj" fmla="val 19231"/>
            </a:avLst>
          </a:prstGeom>
          <a:solidFill>
            <a:srgbClr val="C4853A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5478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Temps réel  ·  Mobile  ·  Multi-rôles  ·  Clé en main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080"/>
                </a:solidFill>
              </a:rPr>
              <a:t>Amine Assou  ·  Septembre 2026  ·  Marrakech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D8CC"/>
                </a:solidFill>
              </a:rPr>
              <a:t>La coordination des équipes housekeeping coûte du temps et de l'argent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8191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0F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81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24712" y="15544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</a:rPr>
              <a:t>Communication fragmentée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24712" y="189280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Téléphone, talkie-walkie, papier... les informations se perdent entre la gouvernante, le staff, la réception et la maintenance.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58191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581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59552" y="15544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</a:rPr>
              <a:t>Retards non détectés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59552" y="189280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La gouvernante découvre trop tard qu'une chambre est bloquée. Le client attend à la réception sans qu'elle le sache.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10896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7355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0F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73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24712" y="32461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</a:rPr>
              <a:t>Aucune traçabilité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24712" y="358444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Qui a nettoyé quelle chambre ? Combien de temps ? Quels incidents ? Impossible à savoir sans outil dédié.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27355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0F0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273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59552" y="32461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</a:rPr>
              <a:t>Zéro pilotage direction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59552" y="358444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Aucun KPI sur la performance du housekeeping. Impossible d'identifier les axes d'amélioration et d'optimiser les coûts.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3D2C5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Gouvernante Générale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D8CC"/>
                </a:solidFill>
              </a:rPr>
              <a:t>Visibilité totale · Assignation en 1 clic · Suivi en temps réel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57800" y="1234440"/>
            <a:ext cx="2871885" cy="3840480"/>
          </a:xfrm>
          <a:prstGeom prst="roundRect">
            <a:avLst>
              <a:gd name="adj" fmla="val 5731"/>
            </a:avLst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325880"/>
            <a:ext cx="2689005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389888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38912" y="1499616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F5EDD9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" y="146304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👁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1389888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Voit l'état de toutes les chambres en temps réel, organisées par étage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2103120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" y="2212848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F5EDD9"/>
          </a:solidFill>
          <a:ln/>
        </p:spPr>
      </p:sp>
      <p:sp>
        <p:nvSpPr>
          <p:cNvPr id="13" name="Text 10"/>
          <p:cNvSpPr/>
          <p:nvPr/>
        </p:nvSpPr>
        <p:spPr>
          <a:xfrm>
            <a:off x="438912" y="2176272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0120" y="2103120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Assigne chaque chambre à une femme de chambre en quelques secondes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2816352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8912" y="2926080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F5EDD9"/>
          </a:solidFill>
          <a:ln/>
        </p:spPr>
      </p:sp>
      <p:sp>
        <p:nvSpPr>
          <p:cNvPr id="17" name="Text 14"/>
          <p:cNvSpPr/>
          <p:nvPr/>
        </p:nvSpPr>
        <p:spPr>
          <a:xfrm>
            <a:off x="438912" y="2889504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60120" y="2816352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Alertes instantanées sur les incidents et retards signalés par le staff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0040" y="3529584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8912" y="3639312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F5EDD9"/>
          </a:solidFill>
          <a:ln/>
        </p:spPr>
      </p:sp>
      <p:sp>
        <p:nvSpPr>
          <p:cNvPr id="21" name="Text 18"/>
          <p:cNvSpPr/>
          <p:nvPr/>
        </p:nvSpPr>
        <p:spPr>
          <a:xfrm>
            <a:off x="438912" y="360273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60120" y="3529584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Génère le rapport du shift en 1 clic pour la direction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0040" y="4242816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38912" y="4352544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F5EDD9"/>
          </a:solidFill>
          <a:ln/>
        </p:spPr>
      </p:sp>
      <p:sp>
        <p:nvSpPr>
          <p:cNvPr id="25" name="Text 22"/>
          <p:cNvSpPr/>
          <p:nvPr/>
        </p:nvSpPr>
        <p:spPr>
          <a:xfrm>
            <a:off x="438912" y="4315968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60120" y="4242816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Soumet le shift quand toutes les chambres sont validées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5C223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Femme de chambre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D8CC"/>
                </a:solidFill>
              </a:rPr>
              <a:t>Son planning · Ses chambres · Signalement instantané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57800" y="1234440"/>
            <a:ext cx="2871885" cy="3840480"/>
          </a:xfrm>
          <a:prstGeom prst="roundRect">
            <a:avLst>
              <a:gd name="adj" fmla="val 5731"/>
            </a:avLst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325880"/>
            <a:ext cx="2689005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389888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38912" y="1499616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FAEAEA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" y="146304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1389888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Reçoit son planning personnalisé dès l'assignation par la gouvernante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2103120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" y="2212848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FAEAEA"/>
          </a:solidFill>
          <a:ln/>
        </p:spPr>
      </p:sp>
      <p:sp>
        <p:nvSpPr>
          <p:cNvPr id="13" name="Text 10"/>
          <p:cNvSpPr/>
          <p:nvPr/>
        </p:nvSpPr>
        <p:spPr>
          <a:xfrm>
            <a:off x="438912" y="2176272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▶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0120" y="2103120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Lance le nettoyage d'un appui — l'heure de début est enregistrée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2816352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8912" y="2926080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FAEAEA"/>
          </a:solidFill>
          <a:ln/>
        </p:spPr>
      </p:sp>
      <p:sp>
        <p:nvSpPr>
          <p:cNvPr id="17" name="Text 14"/>
          <p:cNvSpPr/>
          <p:nvPr/>
        </p:nvSpPr>
        <p:spPr>
          <a:xfrm>
            <a:off x="438912" y="2889504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60120" y="2816352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Signale un problème technique — la Maintenance est alertée instantanément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0040" y="3529584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8912" y="3639312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FAEAEA"/>
          </a:solidFill>
          <a:ln/>
        </p:spPr>
      </p:sp>
      <p:sp>
        <p:nvSpPr>
          <p:cNvPr id="21" name="Text 18"/>
          <p:cNvSpPr/>
          <p:nvPr/>
        </p:nvSpPr>
        <p:spPr>
          <a:xfrm>
            <a:off x="438912" y="360273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60120" y="3529584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Signale un retard — la Gouvernante est prévenue sans appel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0040" y="4242816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38912" y="4352544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FAEAEA"/>
          </a:solidFill>
          <a:ln/>
        </p:spPr>
      </p:sp>
      <p:sp>
        <p:nvSpPr>
          <p:cNvPr id="25" name="Text 22"/>
          <p:cNvSpPr/>
          <p:nvPr/>
        </p:nvSpPr>
        <p:spPr>
          <a:xfrm>
            <a:off x="438912" y="4315968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✓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60120" y="4242816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Le bouton 'Prêt' est bloqué si un incident n'est pas résolu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Réception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D8CC"/>
                </a:solidFill>
              </a:rPr>
              <a:t>Disponibilités en direct · Check-in en 1 clic · Zéro erreur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57800" y="1234440"/>
            <a:ext cx="2871885" cy="3840480"/>
          </a:xfrm>
          <a:prstGeom prst="roundRect">
            <a:avLst>
              <a:gd name="adj" fmla="val 5731"/>
            </a:avLst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325880"/>
            <a:ext cx="2689005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389888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38912" y="1499616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EEF3FB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" y="146304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1389888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Voit en temps réel : disponibles, occupées, en nettoyage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2103120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" y="2212848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EEF3FB"/>
          </a:solidFill>
          <a:ln/>
        </p:spPr>
      </p:sp>
      <p:sp>
        <p:nvSpPr>
          <p:cNvPr id="13" name="Text 10"/>
          <p:cNvSpPr/>
          <p:nvPr/>
        </p:nvSpPr>
        <p:spPr>
          <a:xfrm>
            <a:off x="438912" y="2176272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0120" y="2103120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Check-in en 1 clic — chambre Occupée pour toute l'équipe instantanément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2816352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8912" y="2926080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EEF3FB"/>
          </a:solidFill>
          <a:ln/>
        </p:spPr>
      </p:sp>
      <p:sp>
        <p:nvSpPr>
          <p:cNvPr id="17" name="Text 14"/>
          <p:cNvSpPr/>
          <p:nvPr/>
        </p:nvSpPr>
        <p:spPr>
          <a:xfrm>
            <a:off x="438912" y="2889504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🚪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60120" y="2816352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Check-out en 1 clic — chambre Sale, la gouvernante alertée automatiquement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0040" y="3529584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8912" y="3639312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EEF3FB"/>
          </a:solidFill>
          <a:ln/>
        </p:spPr>
      </p:sp>
      <p:sp>
        <p:nvSpPr>
          <p:cNvPr id="21" name="Text 18"/>
          <p:cNvSpPr/>
          <p:nvPr/>
        </p:nvSpPr>
        <p:spPr>
          <a:xfrm>
            <a:off x="438912" y="360273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60120" y="3529584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Voit les chambres avec incident en cours — évite toute erreur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0040" y="4242816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38912" y="4352544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EEF3FB"/>
          </a:solidFill>
          <a:ln/>
        </p:spPr>
      </p:sp>
      <p:sp>
        <p:nvSpPr>
          <p:cNvPr id="25" name="Text 22"/>
          <p:cNvSpPr/>
          <p:nvPr/>
        </p:nvSpPr>
        <p:spPr>
          <a:xfrm>
            <a:off x="438912" y="4315968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60120" y="4242816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7 disponibles · 11 occupées · 12 en nettoyage — tableau de bord instantané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tableau de bord Direction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D8CC"/>
                </a:solidFill>
              </a:rPr>
              <a:t>KPIs en temps réel · Performance staff · Rapport PDF en 1 clic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57800" y="1234440"/>
            <a:ext cx="2871885" cy="3840480"/>
          </a:xfrm>
          <a:prstGeom prst="roundRect">
            <a:avLst>
              <a:gd name="adj" fmla="val 5731"/>
            </a:avLst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325880"/>
            <a:ext cx="2689005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389888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38912" y="1499616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EAF3E8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" y="146304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1389888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5 KPIs clés : disponibles, occupées, nettoyage, incidents, validées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2103120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" y="2212848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EAF3E8"/>
          </a:solidFill>
          <a:ln/>
        </p:spPr>
      </p:sp>
      <p:sp>
        <p:nvSpPr>
          <p:cNvPr id="13" name="Text 10"/>
          <p:cNvSpPr/>
          <p:nvPr/>
        </p:nvSpPr>
        <p:spPr>
          <a:xfrm>
            <a:off x="438912" y="2176272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0120" y="2103120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Temps moyen de nettoyage par agent — identifiez vos meilleures performances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2816352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8912" y="2926080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EAF3E8"/>
          </a:solidFill>
          <a:ln/>
        </p:spPr>
      </p:sp>
      <p:sp>
        <p:nvSpPr>
          <p:cNvPr id="17" name="Text 14"/>
          <p:cNvSpPr/>
          <p:nvPr/>
        </p:nvSpPr>
        <p:spPr>
          <a:xfrm>
            <a:off x="438912" y="2889504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60120" y="2816352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Incidents du jour avec statut — aucun problème ne passe inaperçu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0040" y="3529584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8912" y="3639312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EAF3E8"/>
          </a:solidFill>
          <a:ln/>
        </p:spPr>
      </p:sp>
      <p:sp>
        <p:nvSpPr>
          <p:cNvPr id="21" name="Text 18"/>
          <p:cNvSpPr/>
          <p:nvPr/>
        </p:nvSpPr>
        <p:spPr>
          <a:xfrm>
            <a:off x="438912" y="360273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60120" y="3529584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Rapport PDF journalier en 1 clic — prêt pour vos réunions direction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0040" y="4242816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38912" y="4352544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EAF3E8"/>
          </a:solidFill>
          <a:ln/>
        </p:spPr>
      </p:sp>
      <p:sp>
        <p:nvSpPr>
          <p:cNvPr id="25" name="Text 22"/>
          <p:cNvSpPr/>
          <p:nvPr/>
        </p:nvSpPr>
        <p:spPr>
          <a:xfrm>
            <a:off x="438912" y="4315968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60120" y="4242816"/>
            <a:ext cx="400507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4"/>
                </a:solidFill>
              </a:rPr>
              <a:t>Historique des shifts pour suivre l'évolution de vos équipes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C4853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ca change pour vous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D8CC"/>
                </a:solidFill>
              </a:rPr>
              <a:t>Des resultats mesurables des le premier mois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260604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99616"/>
            <a:ext cx="2331720" cy="73152"/>
          </a:xfrm>
          <a:prstGeom prst="roundRect">
            <a:avLst/>
          </a:prstGeom>
          <a:solidFill>
            <a:srgbClr val="C0504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91056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5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11480" y="2350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de temps perdu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en communication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1389888"/>
            <a:ext cx="260604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499616"/>
            <a:ext cx="2331720" cy="73152"/>
          </a:xfrm>
          <a:prstGeom prst="roundRect">
            <a:avLst/>
          </a:prstGeom>
          <a:solidFill>
            <a:srgbClr val="1B3A2D"/>
          </a:solidFill>
          <a:ln/>
        </p:spPr>
      </p:sp>
      <p:sp>
        <p:nvSpPr>
          <p:cNvPr id="11" name="Text 9"/>
          <p:cNvSpPr/>
          <p:nvPr/>
        </p:nvSpPr>
        <p:spPr>
          <a:xfrm>
            <a:off x="3172968" y="1591056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64408" y="2350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de visibilite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sur vos chambres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896" y="1389888"/>
            <a:ext cx="260604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499616"/>
            <a:ext cx="2331720" cy="73152"/>
          </a:xfrm>
          <a:prstGeom prst="roundRect">
            <a:avLst/>
          </a:prstGeom>
          <a:solidFill>
            <a:srgbClr val="2C3E6B"/>
          </a:solidFill>
          <a:ln/>
        </p:spPr>
      </p:sp>
      <p:sp>
        <p:nvSpPr>
          <p:cNvPr id="15" name="Text 13"/>
          <p:cNvSpPr/>
          <p:nvPr/>
        </p:nvSpPr>
        <p:spPr>
          <a:xfrm>
            <a:off x="6025896" y="1591056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C3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117336" y="2350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chambre problematique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en reception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108960"/>
            <a:ext cx="260604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18688"/>
            <a:ext cx="2331720" cy="73152"/>
          </a:xfrm>
          <a:prstGeom prst="roundRect">
            <a:avLst/>
          </a:prstGeom>
          <a:solidFill>
            <a:srgbClr val="C4853A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31012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48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x3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11480" y="4069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plus vite pour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decouvrir un incident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72968" y="3108960"/>
            <a:ext cx="260604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10128" y="3218688"/>
            <a:ext cx="2331720" cy="73152"/>
          </a:xfrm>
          <a:prstGeom prst="roundRect">
            <a:avLst/>
          </a:prstGeom>
          <a:solidFill>
            <a:srgbClr val="3D2C5E"/>
          </a:solidFill>
          <a:ln/>
        </p:spPr>
      </p:sp>
      <p:sp>
        <p:nvSpPr>
          <p:cNvPr id="23" name="Text 21"/>
          <p:cNvSpPr/>
          <p:nvPr/>
        </p:nvSpPr>
        <p:spPr>
          <a:xfrm>
            <a:off x="3172968" y="331012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D2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15min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3264408" y="4069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pour onboarder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un nouvel hotel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25896" y="3108960"/>
            <a:ext cx="260604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3218688"/>
            <a:ext cx="2331720" cy="73152"/>
          </a:xfrm>
          <a:prstGeom prst="roundRect">
            <a:avLst/>
          </a:prstGeom>
          <a:solidFill>
            <a:srgbClr val="5C2238"/>
          </a:solidFill>
          <a:ln/>
        </p:spPr>
      </p:sp>
      <p:sp>
        <p:nvSpPr>
          <p:cNvPr id="27" name="Text 25"/>
          <p:cNvSpPr/>
          <p:nvPr/>
        </p:nvSpPr>
        <p:spPr>
          <a:xfrm>
            <a:off x="6025896" y="331012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clic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6117336" y="4069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pour generer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le rapport direction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Demarrer en 15 minutes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D8CC"/>
                </a:solidFill>
              </a:rPr>
              <a:t>Aucune installation · Aucun serveur · Formation incluse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2633472" cy="32461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4168" y="1536192"/>
            <a:ext cx="685800" cy="685800"/>
          </a:xfrm>
          <a:prstGeom prst="ellipse">
            <a:avLst/>
          </a:prstGeom>
          <a:solidFill>
            <a:srgbClr val="3D2C5E"/>
          </a:solidFill>
          <a:ln/>
        </p:spPr>
      </p:sp>
      <p:sp>
        <p:nvSpPr>
          <p:cNvPr id="7" name="Text 5"/>
          <p:cNvSpPr/>
          <p:nvPr/>
        </p:nvSpPr>
        <p:spPr>
          <a:xfrm>
            <a:off x="1344168" y="15361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32688" y="2331720"/>
            <a:ext cx="1508760" cy="301752"/>
          </a:xfrm>
          <a:prstGeom prst="roundRect">
            <a:avLst>
              <a:gd name="adj" fmla="val 18182"/>
            </a:avLst>
          </a:prstGeom>
          <a:solidFill>
            <a:srgbClr val="3D2C5E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33172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2C5E"/>
                </a:solidFill>
              </a:rPr>
              <a:t>⏱ 5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69748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14"/>
                </a:solidFill>
              </a:rPr>
              <a:t>Je configure votre hotel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127248"/>
            <a:ext cx="23591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Nom, etages, chambres generees automatiquement. Comptes de toute votre equipe crees.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853A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46120" y="1389888"/>
            <a:ext cx="2633472" cy="32461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24528" y="1536192"/>
            <a:ext cx="685800" cy="685800"/>
          </a:xfrm>
          <a:prstGeom prst="ellipse">
            <a:avLst/>
          </a:prstGeom>
          <a:solidFill>
            <a:srgbClr val="1B3A2D"/>
          </a:solidFill>
          <a:ln/>
        </p:spPr>
      </p:sp>
      <p:sp>
        <p:nvSpPr>
          <p:cNvPr id="15" name="Text 13"/>
          <p:cNvSpPr/>
          <p:nvPr/>
        </p:nvSpPr>
        <p:spPr>
          <a:xfrm>
            <a:off x="4224528" y="15361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813048" y="2331720"/>
            <a:ext cx="1508760" cy="301752"/>
          </a:xfrm>
          <a:prstGeom prst="roundRect">
            <a:avLst>
              <a:gd name="adj" fmla="val 18182"/>
            </a:avLst>
          </a:prstGeom>
          <a:solidFill>
            <a:srgbClr val="1B3A2D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813048" y="233172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2D"/>
                </a:solidFill>
              </a:rPr>
              <a:t>⏱ 3 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269748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14"/>
                </a:solidFill>
              </a:rPr>
              <a:t>Vos equipes telechargent l'app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3127248"/>
            <a:ext cx="23591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APK Android ou acces web depuis n'importe quel navigateur. Aucune installation complexe.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9788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853A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126480" y="1389888"/>
            <a:ext cx="2633472" cy="32461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04888" y="1536192"/>
            <a:ext cx="685800" cy="685800"/>
          </a:xfrm>
          <a:prstGeom prst="ellipse">
            <a:avLst/>
          </a:prstGeom>
          <a:solidFill>
            <a:srgbClr val="C4853A"/>
          </a:solidFill>
          <a:ln/>
        </p:spPr>
      </p:sp>
      <p:sp>
        <p:nvSpPr>
          <p:cNvPr id="23" name="Text 21"/>
          <p:cNvSpPr/>
          <p:nvPr/>
        </p:nvSpPr>
        <p:spPr>
          <a:xfrm>
            <a:off x="7104888" y="15361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693408" y="2331720"/>
            <a:ext cx="1508760" cy="301752"/>
          </a:xfrm>
          <a:prstGeom prst="roundRect">
            <a:avLst>
              <a:gd name="adj" fmla="val 18182"/>
            </a:avLst>
          </a:prstGeom>
          <a:solidFill>
            <a:srgbClr val="C4853A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693408" y="233172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853A"/>
                </a:solidFill>
              </a:rPr>
              <a:t>⏱ 7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269748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14"/>
                </a:solidFill>
              </a:rPr>
              <a:t>Premier shift en direct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127248"/>
            <a:ext cx="23591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La gouvernante assigne les chambres, le staff recoit son planning. Operationnel.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97280" y="4681728"/>
            <a:ext cx="6949440" cy="365760"/>
          </a:xfrm>
          <a:prstGeom prst="roundRect">
            <a:avLst>
              <a:gd name="adj" fmla="val 20000"/>
            </a:avLst>
          </a:prstGeom>
          <a:solidFill>
            <a:srgbClr val="1B3A2D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468172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Votre hotel operationnel le jour meme · Support inclus · Donnees securisees Europe (Google Cloud)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3D2C5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Offres &amp; Tarifs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D8CC"/>
                </a:solidFill>
              </a:rPr>
              <a:t>Abonnement mensuel · Engagement 12 mois · 1er mois offert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2651760" cy="363931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447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7922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5347"/>
                </a:solidFill>
              </a:rPr>
              <a:t>Riads &amp; Hotels 3★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0299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Jusqu'a 30 chambres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249424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D2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599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0040" y="29626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347"/>
                </a:solidFill>
              </a:rPr>
              <a:t>MAD / mois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55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714"/>
                </a:solidFill>
              </a:rPr>
              <a:t>✓  2 gouvernantes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657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714"/>
                </a:solidFill>
              </a:rPr>
              <a:t>✓  Staff illimite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0599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714"/>
                </a:solidFill>
              </a:rPr>
              <a:t>✓  Support email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462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714"/>
                </a:solidFill>
              </a:rPr>
              <a:t>✓  Mises a jour incluses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389888"/>
            <a:ext cx="2651760" cy="3639312"/>
          </a:xfrm>
          <a:prstGeom prst="roundRect">
            <a:avLst>
              <a:gd name="adj" fmla="val 5172"/>
            </a:avLst>
          </a:prstGeom>
          <a:solidFill>
            <a:srgbClr val="C4853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11880" y="1234440"/>
            <a:ext cx="1828800" cy="320040"/>
          </a:xfrm>
          <a:prstGeom prst="roundRect">
            <a:avLst>
              <a:gd name="adj" fmla="val 20000"/>
            </a:avLst>
          </a:prstGeom>
          <a:solidFill>
            <a:srgbClr val="1B3A2D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⭐ RECOMMANDE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14447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00400" y="17922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EBD7"/>
                </a:solidFill>
              </a:rPr>
              <a:t>Hotels 4★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20299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EBD7"/>
                </a:solidFill>
              </a:rPr>
              <a:t>Jusqu'a 80 chambres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249424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1 499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3200400" y="29626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EBD7"/>
                </a:solidFill>
              </a:rPr>
              <a:t>MAD / mois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255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Equipe complete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657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KPIs &amp; rapports PDF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40599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Support prioritaire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4462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Mises a jour incluses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1389888"/>
            <a:ext cx="2651760" cy="363931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80760" y="14447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080760" y="17922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5347"/>
                </a:solidFill>
              </a:rPr>
              <a:t>Hotels 5★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80760" y="20299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347"/>
                </a:solidFill>
              </a:rPr>
              <a:t>Chambres illimitees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80760" y="2249424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D2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2 999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6080760" y="29626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347"/>
                </a:solidFill>
              </a:rPr>
              <a:t>MAD / mois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3255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714"/>
                </a:solidFill>
              </a:rPr>
              <a:t>✓  Multi-etages illimite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657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714"/>
                </a:solidFill>
              </a:rPr>
              <a:t>✓  KPIs avances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40599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714"/>
                </a:solidFill>
              </a:rPr>
              <a:t>✓  Support dedie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4462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714"/>
                </a:solidFill>
              </a:rPr>
              <a:t>✓  Onboarding sur site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645920" y="4681728"/>
            <a:ext cx="5852160" cy="365760"/>
          </a:xfrm>
          <a:prstGeom prst="roundRect">
            <a:avLst>
              <a:gd name="adj" fmla="val 20000"/>
            </a:avLst>
          </a:prstGeom>
          <a:solidFill>
            <a:srgbClr val="C4853A"/>
          </a:solidFill>
          <a:ln/>
        </p:spPr>
      </p:sp>
      <p:sp>
        <p:nvSpPr>
          <p:cNvPr id="38" name="Text 36"/>
          <p:cNvSpPr/>
          <p:nvPr/>
        </p:nvSpPr>
        <p:spPr>
          <a:xfrm>
            <a:off x="1645920" y="468172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1er mois offert  ·  Demarrage le jour meme  ·  Sans engagement la 1ere annee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C4853A">
              <a:alpha val="12000"/>
            </a:srgbClr>
          </a:solidFill>
          <a:ln w="12700">
            <a:solidFill>
              <a:srgbClr val="C4853A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Commencons aujourd'hui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4853A"/>
                </a:solidFill>
              </a:rPr>
              <a:t>3 etapes pour demarrer HotelStaff dans votre hotel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993392"/>
            <a:ext cx="2487168" cy="2542032"/>
          </a:xfrm>
          <a:prstGeom prst="roundRect">
            <a:avLst>
              <a:gd name="adj" fmla="val 5147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08483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✍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Signature du contrat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23042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DD9"/>
                </a:solidFill>
              </a:rPr>
              <a:t>Je vous envoie le contrat aujourd'hui par email. Signature en 5 minutes.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99816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853A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993392"/>
            <a:ext cx="2487168" cy="2542032"/>
          </a:xfrm>
          <a:prstGeom prst="roundRect">
            <a:avLst>
              <a:gd name="adj" fmla="val 5147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08483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65176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Configuration de votre hotel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3063240"/>
            <a:ext cx="23042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DD9"/>
                </a:solidFill>
              </a:rPr>
              <a:t>Je configure tout dans la semaine — chambres, equipes, acces complets.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88736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853A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72200" y="1993392"/>
            <a:ext cx="2487168" cy="2542032"/>
          </a:xfrm>
          <a:prstGeom prst="roundRect">
            <a:avLst>
              <a:gd name="adj" fmla="val 5147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08483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265176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Premier shift en direct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063240"/>
            <a:ext cx="23042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DD9"/>
                </a:solidFill>
              </a:rPr>
              <a:t>Votre equipe utilise HotelStaff des le lendemain. Je reste disponible.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663440"/>
            <a:ext cx="6949440" cy="384048"/>
          </a:xfrm>
          <a:prstGeom prst="roundRect">
            <a:avLst>
              <a:gd name="adj" fmla="val 23810"/>
            </a:avLst>
          </a:prstGeom>
          <a:solidFill>
            <a:srgbClr val="C4853A">
              <a:alpha val="8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66344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amine.assou.pro@gmail.com  ·  WhatsApp disponible  ·  hotelstaff.ma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HotelStaff — Pitch Deck Commercial</dc:title>
  <dc:subject>PptxGenJS Presentation</dc:subject>
  <dc:creator>Amine Assou</dc:creator>
  <cp:lastModifiedBy>Amine Assou</cp:lastModifiedBy>
  <cp:revision>1</cp:revision>
  <dcterms:created xsi:type="dcterms:W3CDTF">2026-06-23T19:51:09Z</dcterms:created>
  <dcterms:modified xsi:type="dcterms:W3CDTF">2026-06-23T19:51:09Z</dcterms:modified>
</cp:coreProperties>
</file>